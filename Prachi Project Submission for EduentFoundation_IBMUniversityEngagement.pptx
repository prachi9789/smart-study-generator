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71"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ghOvm2EZ50R9dUsIjQzxxGQymf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DA409A-753F-43E9-88D9-1875949E996A}">
  <a:tblStyle styleId="{72DA409A-753F-43E9-88D9-1875949E996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392"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72487255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8333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85827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4880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13798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96212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5826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9869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88142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0526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017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40743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8920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3798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3566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1755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3730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prachi.shah@bvmengineering.ac.i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mailto:prachishah97@gmail.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prachi9789/Smart-Study-Generator"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r>
              <a:rPr lang="en-US" b="1"/>
              <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983831608"/>
              </p:ext>
            </p:extLst>
          </p:nvPr>
        </p:nvGraphicFramePr>
        <p:xfrm>
          <a:off x="1299257" y="2600315"/>
          <a:ext cx="9395000" cy="2167125"/>
        </p:xfrm>
        <a:graphic>
          <a:graphicData uri="http://schemas.openxmlformats.org/drawingml/2006/table">
            <a:tbl>
              <a:tblPr>
                <a:noFill/>
                <a:tableStyleId>{72DA409A-753F-43E9-88D9-1875949E996A}</a:tableStyleId>
              </a:tblPr>
              <a:tblGrid>
                <a:gridCol w="2064875"/>
                <a:gridCol w="2443375"/>
                <a:gridCol w="2443375"/>
                <a:gridCol w="2443375"/>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smtClean="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smtClean="0"/>
                        <a:t>Prachi Shah</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smtClean="0">
                          <a:hlinkClick r:id="rId3"/>
                        </a:rPr>
                        <a:t>prachi.shah@bvmengineering.ac.in</a:t>
                      </a:r>
                      <a:endParaRPr lang="en-US" sz="1400" u="none" strike="noStrike" cap="none" dirty="0" smtClean="0"/>
                    </a:p>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smtClean="0">
                          <a:hlinkClick r:id="rId4"/>
                        </a:rPr>
                        <a:t>prachishah97@gmail.com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smtClean="0"/>
                        <a:t>9408400907</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a:t>
            </a:r>
            <a:r>
              <a:rPr lang="en-US" sz="2400" b="1" i="0" u="none" strike="noStrike" cap="none" dirty="0" smtClean="0">
                <a:solidFill>
                  <a:srgbClr val="000000"/>
                </a:solidFill>
                <a:latin typeface="Arial"/>
                <a:ea typeface="Arial"/>
                <a:cs typeface="Arial"/>
                <a:sym typeface="Arial"/>
              </a:rPr>
              <a:t>– </a:t>
            </a:r>
            <a:r>
              <a:rPr lang="en-US" sz="2400" b="1" dirty="0"/>
              <a:t>Education</a:t>
            </a:r>
            <a:endParaRPr sz="2400" b="1" dirty="0"/>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a:t>
            </a:r>
            <a:r>
              <a:rPr lang="en-US" sz="2400" b="1" i="0" u="none" strike="noStrike" cap="none" dirty="0" smtClean="0">
                <a:solidFill>
                  <a:srgbClr val="000000"/>
                </a:solidFill>
                <a:latin typeface="Arial"/>
                <a:ea typeface="Arial"/>
                <a:cs typeface="Arial"/>
                <a:sym typeface="Arial"/>
              </a:rPr>
              <a:t>Title </a:t>
            </a:r>
            <a:r>
              <a:rPr lang="en-US" sz="2400" b="1" i="0" u="none" strike="noStrike" cap="none" dirty="0">
                <a:solidFill>
                  <a:srgbClr val="000000"/>
                </a:solidFill>
                <a:latin typeface="Arial"/>
                <a:ea typeface="Arial"/>
                <a:cs typeface="Arial"/>
                <a:sym typeface="Arial"/>
              </a:rPr>
              <a:t>– </a:t>
            </a:r>
            <a:r>
              <a:rPr lang="en-US" sz="2400" b="1" dirty="0"/>
              <a:t>Smart Study Generator Agent</a:t>
            </a:r>
            <a:endParaRPr sz="24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576072" y="1234440"/>
            <a:ext cx="11020842" cy="4662775"/>
          </a:xfrm>
          <a:prstGeom prst="rect">
            <a:avLst/>
          </a:prstGeom>
          <a:noFill/>
          <a:ln>
            <a:noFill/>
          </a:ln>
        </p:spPr>
        <p:txBody>
          <a:bodyPr spcFirstLastPara="1" wrap="square" lIns="91425" tIns="45700" rIns="91425" bIns="45700" anchor="t" anchorCtr="0">
            <a:spAutoFit/>
          </a:bodyPr>
          <a:lstStyle/>
          <a:p>
            <a:pPr lvl="0" algn="just">
              <a:lnSpc>
                <a:spcPct val="150000"/>
              </a:lnSpc>
            </a:pPr>
            <a:r>
              <a:rPr lang="en-US" sz="1800" b="1" i="0" u="none" strike="noStrike" cap="none" dirty="0">
                <a:solidFill>
                  <a:srgbClr val="000000"/>
                </a:solidFill>
                <a:sym typeface="Arial"/>
              </a:rPr>
              <a:t>Problem Statement : </a:t>
            </a:r>
            <a:r>
              <a:rPr lang="en-US" sz="1800" b="1" dirty="0"/>
              <a:t>Smart Study Generator Agent</a:t>
            </a:r>
            <a:r>
              <a:rPr lang="en-US" sz="1800" b="0" i="0" u="none" strike="noStrike" cap="none" dirty="0">
                <a:solidFill>
                  <a:srgbClr val="000000"/>
                </a:solidFill>
                <a:sym typeface="Arial"/>
              </a:rPr>
              <a:t> </a:t>
            </a:r>
            <a:endParaRPr sz="1800" dirty="0"/>
          </a:p>
          <a:p>
            <a:pPr marL="0" marR="0" lvl="0" indent="0" algn="just" rtl="0">
              <a:lnSpc>
                <a:spcPct val="150000"/>
              </a:lnSpc>
              <a:spcBef>
                <a:spcPts val="0"/>
              </a:spcBef>
              <a:spcAft>
                <a:spcPts val="0"/>
              </a:spcAft>
              <a:buNone/>
            </a:pPr>
            <a:endParaRPr sz="1800" b="1" i="0" u="none" strike="noStrike" cap="none" dirty="0">
              <a:solidFill>
                <a:srgbClr val="000000"/>
              </a:solidFill>
              <a:sym typeface="Arial"/>
            </a:endParaRPr>
          </a:p>
          <a:p>
            <a:pPr marL="0" marR="0" lvl="0" indent="0" algn="just" rtl="0">
              <a:lnSpc>
                <a:spcPct val="150000"/>
              </a:lnSpc>
              <a:spcBef>
                <a:spcPts val="0"/>
              </a:spcBef>
              <a:spcAft>
                <a:spcPts val="0"/>
              </a:spcAft>
              <a:buNone/>
            </a:pPr>
            <a:r>
              <a:rPr lang="en-US" sz="1800" b="1" i="0" u="none" strike="noStrike" cap="none" dirty="0">
                <a:solidFill>
                  <a:srgbClr val="000000"/>
                </a:solidFill>
                <a:sym typeface="Arial"/>
              </a:rPr>
              <a:t>The Challenge</a:t>
            </a:r>
            <a:r>
              <a:rPr lang="en-US" sz="1800" b="0" i="0" u="none" strike="noStrike" cap="none" dirty="0">
                <a:solidFill>
                  <a:srgbClr val="000000"/>
                </a:solidFill>
                <a:sym typeface="Arial"/>
              </a:rPr>
              <a:t> </a:t>
            </a:r>
            <a:endParaRPr sz="1800" dirty="0"/>
          </a:p>
          <a:p>
            <a:pPr algn="just">
              <a:lnSpc>
                <a:spcPct val="150000"/>
              </a:lnSpc>
            </a:pPr>
            <a:r>
              <a:rPr lang="en-US" sz="1800"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r>
              <a:rPr lang="en-US" sz="1800" b="0" i="0" u="none" strike="noStrike" cap="none" dirty="0" smtClean="0">
                <a:solidFill>
                  <a:srgbClr val="000000"/>
                </a:solidFill>
                <a:sym typeface="Arial"/>
              </a:rPr>
              <a:t> </a:t>
            </a:r>
            <a:endParaRPr sz="1800" dirty="0" smtClean="0"/>
          </a:p>
          <a:p>
            <a:pPr marL="0" marR="0" lvl="0" indent="0" algn="just" rtl="0">
              <a:lnSpc>
                <a:spcPct val="150000"/>
              </a:lnSpc>
              <a:spcBef>
                <a:spcPts val="0"/>
              </a:spcBef>
              <a:spcAft>
                <a:spcPts val="0"/>
              </a:spcAft>
              <a:buNone/>
            </a:pPr>
            <a:endParaRPr sz="1800" b="0" i="0" u="none" strike="noStrike" cap="none" dirty="0">
              <a:solidFill>
                <a:srgbClr val="000000"/>
              </a:solidFill>
              <a:sym typeface="Arial"/>
            </a:endParaRPr>
          </a:p>
          <a:p>
            <a:pPr marL="0" marR="0" lvl="0" indent="0" algn="just" rtl="0">
              <a:lnSpc>
                <a:spcPct val="150000"/>
              </a:lnSpc>
              <a:spcBef>
                <a:spcPts val="0"/>
              </a:spcBef>
              <a:spcAft>
                <a:spcPts val="0"/>
              </a:spcAft>
              <a:buNone/>
            </a:pPr>
            <a:endParaRPr sz="1800" b="0" i="0" u="none" strike="noStrike" cap="none" dirty="0">
              <a:solidFill>
                <a:srgbClr val="000000"/>
              </a:solidFill>
              <a:sym typeface="Arial"/>
            </a:endParaRPr>
          </a:p>
        </p:txBody>
      </p:sp>
      <p:sp>
        <p:nvSpPr>
          <p:cNvPr id="95" name="Google Shape;95;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Problem Statement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576071" y="1170363"/>
            <a:ext cx="11165985" cy="549377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i="0" u="none" strike="noStrike" cap="none" dirty="0" smtClean="0">
                <a:solidFill>
                  <a:srgbClr val="000000"/>
                </a:solidFill>
                <a:sym typeface="Arial"/>
              </a:rPr>
              <a:t>The </a:t>
            </a:r>
            <a:r>
              <a:rPr lang="en-US" sz="1800" b="1" i="0" u="none" strike="noStrike" cap="none" dirty="0">
                <a:solidFill>
                  <a:srgbClr val="000000"/>
                </a:solidFill>
                <a:sym typeface="Arial"/>
              </a:rPr>
              <a:t>Objective</a:t>
            </a:r>
            <a:r>
              <a:rPr lang="en-US" sz="1800" b="0" i="0" u="none" strike="noStrike" cap="none" dirty="0">
                <a:solidFill>
                  <a:srgbClr val="000000"/>
                </a:solidFill>
                <a:sym typeface="Arial"/>
              </a:rPr>
              <a:t> </a:t>
            </a:r>
            <a:endParaRPr sz="1800" dirty="0"/>
          </a:p>
          <a:p>
            <a:pPr algn="just">
              <a:lnSpc>
                <a:spcPct val="150000"/>
              </a:lnSpc>
            </a:pPr>
            <a:r>
              <a:rPr lang="en-US" sz="1800" dirty="0"/>
              <a:t>Build an agentic AI-powered Smart Study Generator that personalizes and streamlines learning for students. The solution should:</a:t>
            </a:r>
          </a:p>
          <a:p>
            <a:pPr algn="just">
              <a:lnSpc>
                <a:spcPct val="150000"/>
              </a:lnSpc>
            </a:pPr>
            <a:r>
              <a:rPr lang="en-US" sz="1800" b="1" dirty="0" smtClean="0"/>
              <a:t>1. Fuse </a:t>
            </a:r>
            <a:r>
              <a:rPr lang="en-US" sz="1800" b="1" dirty="0"/>
              <a:t>Learning Resources:</a:t>
            </a:r>
            <a:r>
              <a:rPr lang="en-US" sz="1800" dirty="0"/>
              <a:t> </a:t>
            </a:r>
            <a:r>
              <a:rPr lang="en-US" sz="1800" dirty="0" smtClean="0"/>
              <a:t>Aggregate </a:t>
            </a:r>
            <a:r>
              <a:rPr lang="en-US" sz="1800" dirty="0"/>
              <a:t>content from class notes, textbooks, research articles, and online tutorials into structured, easy-to-digest study material.</a:t>
            </a:r>
          </a:p>
          <a:p>
            <a:pPr algn="just">
              <a:lnSpc>
                <a:spcPct val="150000"/>
              </a:lnSpc>
            </a:pPr>
            <a:r>
              <a:rPr lang="en-US" sz="1800" b="1" dirty="0" smtClean="0"/>
              <a:t>2. Enable </a:t>
            </a:r>
            <a:r>
              <a:rPr lang="en-US" sz="1800" b="1" dirty="0"/>
              <a:t>Multimodal Input: </a:t>
            </a:r>
            <a:r>
              <a:rPr lang="en-US" sz="1800" dirty="0"/>
              <a:t>Allow students to upload notes, voice queries, or images (e.g., textbook pages), and generate concise summaries, flashcards, or concept maps.</a:t>
            </a:r>
          </a:p>
          <a:p>
            <a:pPr algn="just">
              <a:lnSpc>
                <a:spcPct val="150000"/>
              </a:lnSpc>
            </a:pPr>
            <a:r>
              <a:rPr lang="en-US" sz="1800" b="1" dirty="0" smtClean="0"/>
              <a:t>3. Create </a:t>
            </a:r>
            <a:r>
              <a:rPr lang="en-US" sz="1800" b="1" dirty="0"/>
              <a:t>a Predictive &amp; Agentic Layer: </a:t>
            </a:r>
            <a:r>
              <a:rPr lang="en-US" sz="1800" dirty="0"/>
              <a:t>Recommend personalized study plans, highlight important topics based on syllabus or past exams, and provide predictive alerts (e.g., “Focus on Topic X—frequently asked in exams”).</a:t>
            </a:r>
          </a:p>
          <a:p>
            <a:pPr algn="just">
              <a:lnSpc>
                <a:spcPct val="150000"/>
              </a:lnSpc>
            </a:pPr>
            <a:r>
              <a:rPr lang="en-US" sz="1800" b="1" dirty="0" smtClean="0"/>
              <a:t>4. Visualize </a:t>
            </a:r>
            <a:r>
              <a:rPr lang="en-US" sz="1800" b="1" dirty="0"/>
              <a:t>Study Progress: </a:t>
            </a:r>
            <a:r>
              <a:rPr lang="en-US" sz="1800" dirty="0"/>
              <a:t>Offer a real-time dashboard showing learning milestones, weak areas, practice quizzes, and performance forecasts.</a:t>
            </a:r>
            <a:endParaRPr sz="1800" b="0" i="0" u="none" strike="noStrike" cap="none" dirty="0">
              <a:solidFill>
                <a:srgbClr val="000000"/>
              </a:solidFill>
              <a:sym typeface="Arial"/>
            </a:endParaRPr>
          </a:p>
          <a:p>
            <a:pPr marL="0" marR="0" lvl="0" indent="0" algn="just" rtl="0">
              <a:lnSpc>
                <a:spcPct val="150000"/>
              </a:lnSpc>
              <a:spcBef>
                <a:spcPts val="0"/>
              </a:spcBef>
              <a:spcAft>
                <a:spcPts val="0"/>
              </a:spcAft>
              <a:buNone/>
            </a:pPr>
            <a:endParaRPr sz="1800" b="0" i="0" u="none" strike="noStrike" cap="none" dirty="0">
              <a:solidFill>
                <a:srgbClr val="000000"/>
              </a:solidFill>
              <a:sym typeface="Arial"/>
            </a:endParaRPr>
          </a:p>
        </p:txBody>
      </p:sp>
      <p:sp>
        <p:nvSpPr>
          <p:cNvPr id="95" name="Google Shape;95;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Problem Statement -</a:t>
            </a:r>
            <a:endParaRPr sz="2400" b="1"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998046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576072" y="1165753"/>
            <a:ext cx="12919800" cy="338550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3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3600" b="1" i="0" u="none" strike="noStrike" cap="none" dirty="0">
                <a:solidFill>
                  <a:srgbClr val="000000"/>
                </a:solidFill>
                <a:latin typeface="Arial"/>
                <a:ea typeface="Arial"/>
                <a:cs typeface="Arial"/>
                <a:sym typeface="Arial"/>
              </a:rPr>
              <a:t>Tech Stack </a:t>
            </a:r>
            <a:r>
              <a:rPr lang="en-US" sz="3600" b="0" i="0" u="none" strike="noStrike" cap="none" dirty="0">
                <a:solidFill>
                  <a:srgbClr val="000000"/>
                </a:solidFill>
                <a:latin typeface="Arial"/>
                <a:ea typeface="Arial"/>
                <a:cs typeface="Arial"/>
                <a:sym typeface="Arial"/>
              </a:rPr>
              <a:t> </a:t>
            </a:r>
            <a:endParaRPr sz="3600" dirty="0"/>
          </a:p>
          <a:p>
            <a:pPr marL="285750" marR="0" lvl="0" indent="-196850" algn="l" rtl="0">
              <a:lnSpc>
                <a:spcPct val="100000"/>
              </a:lnSpc>
              <a:spcBef>
                <a:spcPts val="0"/>
              </a:spcBef>
              <a:spcAft>
                <a:spcPts val="0"/>
              </a:spcAft>
              <a:buClr>
                <a:srgbClr val="000000"/>
              </a:buClr>
              <a:buSzPts val="1400"/>
              <a:buFont typeface="Arial"/>
              <a:buNone/>
            </a:pPr>
            <a:endParaRPr sz="3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3600" b="0" i="0" u="none" strike="noStrike" cap="none" dirty="0">
                <a:solidFill>
                  <a:srgbClr val="000000"/>
                </a:solidFill>
                <a:latin typeface="Arial"/>
                <a:ea typeface="Arial"/>
                <a:cs typeface="Arial"/>
                <a:sym typeface="Arial"/>
              </a:rPr>
              <a:t>I used </a:t>
            </a:r>
            <a:r>
              <a:rPr lang="en-US" sz="3600" u="sng" dirty="0" err="1"/>
              <a:t>LangFlow</a:t>
            </a:r>
            <a:r>
              <a:rPr lang="en-US" sz="3600" u="sng" dirty="0"/>
              <a:t> + IBM watsonx.ai + Granite Models</a:t>
            </a:r>
            <a:r>
              <a:rPr lang="en-US" sz="3600" b="0" i="0" u="none" strike="noStrike" cap="none" dirty="0">
                <a:solidFill>
                  <a:srgbClr val="000000"/>
                </a:solidFill>
                <a:highlight>
                  <a:srgbClr val="FFFF00"/>
                </a:highlight>
                <a:latin typeface="Arial"/>
                <a:ea typeface="Arial"/>
                <a:cs typeface="Arial"/>
                <a:sym typeface="Arial"/>
              </a:rPr>
              <a:t> </a:t>
            </a:r>
            <a:endParaRPr sz="360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576072" y="1234440"/>
            <a:ext cx="10607040" cy="5509160"/>
          </a:xfrm>
          <a:prstGeom prst="rect">
            <a:avLst/>
          </a:prstGeom>
          <a:noFill/>
          <a:ln>
            <a:noFill/>
          </a:ln>
        </p:spPr>
        <p:txBody>
          <a:bodyPr spcFirstLastPara="1" wrap="square" lIns="91425" tIns="45700" rIns="91425" bIns="45700" anchor="t" anchorCtr="0">
            <a:spAutoFit/>
          </a:bodyPr>
          <a:lstStyle/>
          <a:p>
            <a:pPr algn="just"/>
            <a:r>
              <a:rPr lang="en-US" sz="1600" dirty="0"/>
              <a:t>The </a:t>
            </a:r>
            <a:r>
              <a:rPr lang="en-US" sz="1600" b="1" dirty="0"/>
              <a:t>Smart Study Generator Agent</a:t>
            </a:r>
            <a:r>
              <a:rPr lang="en-US" sz="1600" dirty="0"/>
              <a:t> is an Agentic AI-powered educational platform designed to transform a student's study topic into a complete personalized learning package. The solution leverages </a:t>
            </a:r>
            <a:r>
              <a:rPr lang="en-US" sz="1600" dirty="0" err="1"/>
              <a:t>LangFlow's</a:t>
            </a:r>
            <a:r>
              <a:rPr lang="en-US" sz="1600" dirty="0"/>
              <a:t> multi-agent orchestration capabilities, IBM Granite foundation models, and Retrieval-Augmented Generation (RAG) to provide intelligent, adaptive, and exam-oriented study support.</a:t>
            </a:r>
          </a:p>
          <a:p>
            <a:pPr algn="just"/>
            <a:r>
              <a:rPr lang="en-US" sz="1600" dirty="0"/>
              <a:t>The system consists of four specialized AI agents that collaborate to create a seamless learning experience:</a:t>
            </a:r>
          </a:p>
          <a:p>
            <a:pPr algn="just"/>
            <a:r>
              <a:rPr lang="en-US" sz="1600" b="1" dirty="0"/>
              <a:t>1. Study Analyst Agent</a:t>
            </a:r>
          </a:p>
          <a:p>
            <a:pPr algn="just"/>
            <a:r>
              <a:rPr lang="en-US" sz="1600" dirty="0"/>
              <a:t>The Study Analyst Agent acts as the academic expert of the system. It analyzes the student's topic, identifies key concepts, determines difficulty levels, extracts important definitions and formulas, and creates a structured understanding of the subject.</a:t>
            </a:r>
          </a:p>
          <a:p>
            <a:pPr algn="just"/>
            <a:r>
              <a:rPr lang="en-US" sz="1600" b="1" dirty="0"/>
              <a:t>2. Content Generator Agent</a:t>
            </a:r>
          </a:p>
          <a:p>
            <a:pPr algn="just"/>
            <a:r>
              <a:rPr lang="en-US" sz="1600" dirty="0"/>
              <a:t>The Content Generator Agent converts the analyzed topic into learning materials such as detailed notes, flashcards, multiple-choice questions (MCQs), short-answer questions, revision sheets, and concept summaries.</a:t>
            </a:r>
          </a:p>
          <a:p>
            <a:pPr algn="just"/>
            <a:r>
              <a:rPr lang="en-US" sz="1600" b="1" dirty="0"/>
              <a:t>3. Learning Coach Agent</a:t>
            </a:r>
          </a:p>
          <a:p>
            <a:pPr algn="just"/>
            <a:r>
              <a:rPr lang="en-US" sz="1600" dirty="0"/>
              <a:t>The Learning Coach Agent provides personalized learning guidance by generating study schedules, revision plans, exam preparation strategies, and recommendations based on the student's available study time and exam timeline.</a:t>
            </a:r>
          </a:p>
          <a:p>
            <a:pPr algn="just"/>
            <a:r>
              <a:rPr lang="en-US" sz="1600" b="1" dirty="0"/>
              <a:t>4. Agentic AI Planner</a:t>
            </a:r>
          </a:p>
          <a:p>
            <a:pPr algn="just"/>
            <a:r>
              <a:rPr lang="en-US" sz="1600" dirty="0"/>
              <a:t>The Planner Agent orchestrates the workflow between all agents. It determines the sequence of execution, manages information flow between agents, and ensures that each agent contributes to the final personalized study package.</a:t>
            </a:r>
          </a:p>
          <a:p>
            <a:pPr algn="just"/>
            <a:r>
              <a:rPr lang="en-US" sz="1600" dirty="0"/>
              <a:t>The system is further enhanced through RAG-based knowledge retrieval, allowing agents to access relevant educational content before generating responses. IBM Granite Models provide reasoning and content generation capabilities, while IBM Watsonx.ai ensures scalable deployment and AI governance.</a:t>
            </a:r>
          </a:p>
        </p:txBody>
      </p:sp>
      <p:sp>
        <p:nvSpPr>
          <p:cNvPr id="107" name="Google Shape;107;p36"/>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component Used -</a:t>
            </a:r>
            <a:endParaRPr sz="2400" b="1" i="0" u="none" strike="noStrike" cap="none" dirty="0">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474821" y="863187"/>
            <a:ext cx="11180149" cy="5632271"/>
          </a:xfrm>
          <a:prstGeom prst="rect">
            <a:avLst/>
          </a:prstGeom>
          <a:noFill/>
          <a:ln>
            <a:noFill/>
          </a:ln>
        </p:spPr>
        <p:txBody>
          <a:bodyPr spcFirstLastPara="1" wrap="square" lIns="91425" tIns="45700" rIns="91425" bIns="45700" anchor="t" anchorCtr="0">
            <a:spAutoFit/>
          </a:bodyPr>
          <a:lstStyle/>
          <a:p>
            <a:r>
              <a:rPr lang="en-US" sz="1500" b="1" dirty="0" smtClean="0"/>
              <a:t>1</a:t>
            </a:r>
            <a:r>
              <a:rPr lang="en-US" sz="1500" b="1" dirty="0"/>
              <a:t>) Chat Input</a:t>
            </a:r>
            <a:r>
              <a:rPr lang="en-US" sz="1500" dirty="0"/>
              <a:t/>
            </a:r>
            <a:br>
              <a:rPr lang="en-US" sz="1500" dirty="0"/>
            </a:br>
            <a:r>
              <a:rPr lang="en-US" sz="1500" dirty="0"/>
              <a:t>Interface where students enter study topics, learning requirements, exam timelines, or academic queries.</a:t>
            </a:r>
          </a:p>
          <a:p>
            <a:r>
              <a:rPr lang="en-US" sz="1500" b="1" dirty="0"/>
              <a:t>2) IBM </a:t>
            </a:r>
            <a:r>
              <a:rPr lang="en-US" sz="1500" b="1" dirty="0" err="1"/>
              <a:t>watsonx</a:t>
            </a:r>
            <a:r>
              <a:rPr lang="en-US" sz="1500" b="1" dirty="0"/>
              <a:t> AI Agent</a:t>
            </a:r>
            <a:r>
              <a:rPr lang="en-US" sz="1500" dirty="0"/>
              <a:t/>
            </a:r>
            <a:br>
              <a:rPr lang="en-US" sz="1500" dirty="0"/>
            </a:br>
            <a:r>
              <a:rPr lang="en-US" sz="1500" dirty="0"/>
              <a:t>Processes student inputs using IBM Granite models and coordinates the </a:t>
            </a:r>
            <a:r>
              <a:rPr lang="en-US" sz="1500" b="1" dirty="0"/>
              <a:t>Study Analyst Agent</a:t>
            </a:r>
            <a:r>
              <a:rPr lang="en-US" sz="1500" dirty="0"/>
              <a:t>, </a:t>
            </a:r>
            <a:r>
              <a:rPr lang="en-US" sz="1500" b="1" dirty="0"/>
              <a:t>Content Generator Agent</a:t>
            </a:r>
            <a:r>
              <a:rPr lang="en-US" sz="1500" dirty="0"/>
              <a:t>, and </a:t>
            </a:r>
            <a:r>
              <a:rPr lang="en-US" sz="1500" b="1" dirty="0"/>
              <a:t>Learning Coach Agent</a:t>
            </a:r>
            <a:r>
              <a:rPr lang="en-US" sz="1500" dirty="0"/>
              <a:t> to generate personalized learning resources and study recommendations.</a:t>
            </a:r>
          </a:p>
          <a:p>
            <a:r>
              <a:rPr lang="en-US" sz="1500" b="1" dirty="0"/>
              <a:t>3) IBM Granite Model – Granite-4-H-Small</a:t>
            </a:r>
            <a:r>
              <a:rPr lang="en-US" sz="1500" dirty="0"/>
              <a:t> </a:t>
            </a:r>
            <a:r>
              <a:rPr lang="en-US" sz="1500" i="1" dirty="0"/>
              <a:t>(or the Granite model used in your project)</a:t>
            </a:r>
            <a:r>
              <a:rPr lang="en-US" sz="1500" dirty="0"/>
              <a:t/>
            </a:r>
            <a:br>
              <a:rPr lang="en-US" sz="1500" dirty="0"/>
            </a:br>
            <a:r>
              <a:rPr lang="en-US" sz="1500" dirty="0"/>
              <a:t>Provides natural language understanding, reasoning, topic analysis, content generation, and personalized study guidance in real time.</a:t>
            </a:r>
          </a:p>
          <a:p>
            <a:r>
              <a:rPr lang="en-US" sz="1500" b="1" dirty="0"/>
              <a:t>4) Chat Output</a:t>
            </a:r>
            <a:r>
              <a:rPr lang="en-US" sz="1500" dirty="0"/>
              <a:t/>
            </a:r>
            <a:br>
              <a:rPr lang="en-US" sz="1500" dirty="0"/>
            </a:br>
            <a:r>
              <a:rPr lang="en-US" sz="1500" dirty="0"/>
              <a:t>Displays AI-generated outputs such as topic analysis, notes, flashcards, MCQs, revision sheets, study plans, and exam preparation recommendations.</a:t>
            </a:r>
          </a:p>
          <a:p>
            <a:r>
              <a:rPr lang="en-US" sz="1500" b="1" dirty="0"/>
              <a:t>5) File Component</a:t>
            </a:r>
            <a:r>
              <a:rPr lang="en-US" sz="1500" dirty="0"/>
              <a:t/>
            </a:r>
            <a:br>
              <a:rPr lang="en-US" sz="1500" dirty="0"/>
            </a:br>
            <a:r>
              <a:rPr lang="en-US" sz="1500" dirty="0"/>
              <a:t>Stores and retrieves educational resources, generated study materials, learning history, and knowledge-base content for future reference and analysis.</a:t>
            </a:r>
          </a:p>
          <a:p>
            <a:r>
              <a:rPr lang="en-US" sz="1500" b="1" dirty="0"/>
              <a:t>6) Prompt Template Component</a:t>
            </a:r>
            <a:r>
              <a:rPr lang="en-US" sz="1500" dirty="0"/>
              <a:t/>
            </a:r>
            <a:br>
              <a:rPr lang="en-US" sz="1500" dirty="0"/>
            </a:br>
            <a:r>
              <a:rPr lang="en-US" sz="1500" dirty="0"/>
              <a:t>Provides structured instructions to agents, ensuring consistent generation of study materials, topic analysis, and personalized learning recommendations.</a:t>
            </a:r>
          </a:p>
          <a:p>
            <a:r>
              <a:rPr lang="en-US" sz="1500" b="1" dirty="0"/>
              <a:t>7) Vector Store (FAISS/Chroma)</a:t>
            </a:r>
            <a:r>
              <a:rPr lang="en-US" sz="1500" dirty="0"/>
              <a:t/>
            </a:r>
            <a:br>
              <a:rPr lang="en-US" sz="1500" dirty="0"/>
            </a:br>
            <a:r>
              <a:rPr lang="en-US" sz="1500" dirty="0"/>
              <a:t>Stores </a:t>
            </a:r>
            <a:r>
              <a:rPr lang="en-US" sz="1500" dirty="0" err="1"/>
              <a:t>embeddings</a:t>
            </a:r>
            <a:r>
              <a:rPr lang="en-US" sz="1500" dirty="0"/>
              <a:t> of educational content and enables semantic search for RAG-based knowledge retrieval.</a:t>
            </a:r>
          </a:p>
          <a:p>
            <a:r>
              <a:rPr lang="en-US" sz="1500" b="1" dirty="0"/>
              <a:t>8) Retriever Component</a:t>
            </a:r>
            <a:r>
              <a:rPr lang="en-US" sz="1500" dirty="0"/>
              <a:t/>
            </a:r>
            <a:br>
              <a:rPr lang="en-US" sz="1500" dirty="0"/>
            </a:br>
            <a:r>
              <a:rPr lang="en-US" sz="1500" dirty="0"/>
              <a:t>Fetches relevant study content from the vector database to provide contextual and accurate responses.</a:t>
            </a:r>
          </a:p>
          <a:p>
            <a:r>
              <a:rPr lang="en-US" sz="1500" b="1" dirty="0"/>
              <a:t>9) RAG Pipeline</a:t>
            </a:r>
            <a:r>
              <a:rPr lang="en-US" sz="1500" dirty="0"/>
              <a:t/>
            </a:r>
            <a:br>
              <a:rPr lang="en-US" sz="1500" dirty="0"/>
            </a:br>
            <a:r>
              <a:rPr lang="en-US" sz="1500" dirty="0"/>
              <a:t>Combines retrieved educational information with IBM Granite Models to generate context-aware, reliable, and personalized learning content</a:t>
            </a:r>
            <a:r>
              <a:rPr lang="en-US" sz="1500" dirty="0" smtClean="0"/>
              <a:t>.</a:t>
            </a:r>
            <a:endParaRPr sz="1500" b="0" i="0" u="none" strike="noStrike" cap="none" dirty="0">
              <a:solidFill>
                <a:srgbClr val="000000"/>
              </a:solidFill>
              <a:sym typeface="Aria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3" name="Picture 2"/>
          <p:cNvPicPr>
            <a:picLocks noChangeAspect="1"/>
          </p:cNvPicPr>
          <p:nvPr/>
        </p:nvPicPr>
        <p:blipFill>
          <a:blip r:embed="rId3"/>
          <a:stretch>
            <a:fillRect/>
          </a:stretch>
        </p:blipFill>
        <p:spPr>
          <a:xfrm>
            <a:off x="994790" y="771747"/>
            <a:ext cx="9240540" cy="5820587"/>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5872" y="189888"/>
            <a:ext cx="4348927" cy="6523391"/>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Role of Agentic AI in the solution </a:t>
            </a:r>
            <a:endParaRPr sz="3200" b="1" i="0" u="none" strike="noStrike" cap="none" dirty="0">
              <a:solidFill>
                <a:srgbClr val="000000"/>
              </a:solidFill>
              <a:latin typeface="Arial"/>
              <a:ea typeface="Arial"/>
              <a:cs typeface="Arial"/>
              <a:sym typeface="Arial"/>
            </a:endParaRPr>
          </a:p>
        </p:txBody>
      </p:sp>
      <p:sp>
        <p:nvSpPr>
          <p:cNvPr id="138" name="Google Shape;138;p9"/>
          <p:cNvSpPr txBox="1"/>
          <p:nvPr/>
        </p:nvSpPr>
        <p:spPr>
          <a:xfrm>
            <a:off x="475488" y="1217386"/>
            <a:ext cx="7406640" cy="4985940"/>
          </a:xfrm>
          <a:prstGeom prst="rect">
            <a:avLst/>
          </a:prstGeom>
          <a:noFill/>
          <a:ln>
            <a:noFill/>
          </a:ln>
        </p:spPr>
        <p:txBody>
          <a:bodyPr spcFirstLastPara="1" wrap="square" lIns="91425" tIns="45700" rIns="91425" bIns="45700" anchor="t" anchorCtr="0">
            <a:spAutoFit/>
          </a:bodyPr>
          <a:lstStyle/>
          <a:p>
            <a:pPr algn="just"/>
            <a:r>
              <a:rPr lang="en-US" sz="1600" b="1" dirty="0"/>
              <a:t>Role of Agentic AI in Smart Study Generator</a:t>
            </a:r>
          </a:p>
          <a:p>
            <a:pPr algn="just"/>
            <a:r>
              <a:rPr lang="en-US" sz="1600" dirty="0"/>
              <a:t>Agentic AI enables the </a:t>
            </a:r>
            <a:r>
              <a:rPr lang="en-US" sz="1600" b="1" dirty="0"/>
              <a:t>Smart Study Generator</a:t>
            </a:r>
            <a:r>
              <a:rPr lang="en-US" sz="1600" dirty="0"/>
              <a:t> to function as an intelligent, autonomous learning system rather than a simple educational </a:t>
            </a:r>
            <a:r>
              <a:rPr lang="en-US" sz="1600" dirty="0" err="1"/>
              <a:t>chatbot</a:t>
            </a:r>
            <a:r>
              <a:rPr lang="en-US" sz="1600" dirty="0"/>
              <a:t>. Using </a:t>
            </a:r>
            <a:r>
              <a:rPr lang="en-US" sz="1600" b="1" dirty="0"/>
              <a:t>IBM watsonx.ai</a:t>
            </a:r>
            <a:r>
              <a:rPr lang="en-US" sz="1600" dirty="0"/>
              <a:t> and </a:t>
            </a:r>
            <a:r>
              <a:rPr lang="en-US" sz="1600" b="1" dirty="0"/>
              <a:t>IBM Granite Models</a:t>
            </a:r>
            <a:r>
              <a:rPr lang="en-US" sz="1600" dirty="0"/>
              <a:t>, it coordinates multiple specialized agents to deliver personalized and exam-focused learning support.</a:t>
            </a:r>
          </a:p>
          <a:p>
            <a:pPr algn="just"/>
            <a:r>
              <a:rPr lang="en-US" sz="1600" b="1" dirty="0"/>
              <a:t>Study Analyst Agent</a:t>
            </a:r>
            <a:r>
              <a:rPr lang="en-US" sz="1600" dirty="0"/>
              <a:t> analyzes the student's topic, identifies key concepts, definitions, formulas, and determines the difficulty level. </a:t>
            </a:r>
          </a:p>
          <a:p>
            <a:pPr algn="just"/>
            <a:r>
              <a:rPr lang="en-US" sz="1600" b="1" dirty="0"/>
              <a:t>Content Generator Agent</a:t>
            </a:r>
            <a:r>
              <a:rPr lang="en-US" sz="1600" dirty="0"/>
              <a:t> creates structured learning resources such as notes, flashcards, MCQs, revision sheets, and concept summaries. </a:t>
            </a:r>
          </a:p>
          <a:p>
            <a:pPr algn="just"/>
            <a:r>
              <a:rPr lang="en-US" sz="1600" b="1" dirty="0"/>
              <a:t>Learning Coach Agent</a:t>
            </a:r>
            <a:r>
              <a:rPr lang="en-US" sz="1600" dirty="0"/>
              <a:t> develops personalized study plans, revision schedules, exam strategies, and recommends focus areas based on student needs. </a:t>
            </a:r>
          </a:p>
          <a:p>
            <a:pPr algn="just"/>
            <a:r>
              <a:rPr lang="en-US" sz="1600" b="1" dirty="0"/>
              <a:t>Agentic AI Planner</a:t>
            </a:r>
            <a:r>
              <a:rPr lang="en-US" sz="1600" dirty="0"/>
              <a:t> orchestrates communication between agents, manages workflow execution, and ensures seamless collaboration. </a:t>
            </a:r>
          </a:p>
          <a:p>
            <a:pPr algn="just"/>
            <a:r>
              <a:rPr lang="en-US" sz="1600" dirty="0"/>
              <a:t>The agents work together and leverage </a:t>
            </a:r>
            <a:r>
              <a:rPr lang="en-US" sz="1600" b="1" dirty="0"/>
              <a:t>RAG (Retrieval-Augmented Generation)</a:t>
            </a:r>
            <a:r>
              <a:rPr lang="en-US" sz="1600" dirty="0"/>
              <a:t> to retrieve relevant educational information before generating responses, improving accuracy and contextual relevance.</a:t>
            </a:r>
          </a:p>
          <a:p>
            <a:pPr algn="just"/>
            <a:r>
              <a:rPr lang="en-US" sz="1600" dirty="0"/>
              <a:t>Overall, Agentic AI makes the system proactive, personalized, and goal-driven, acting as a </a:t>
            </a:r>
            <a:r>
              <a:rPr lang="en-US" sz="1600" b="1" dirty="0"/>
              <a:t>smart digital study companion</a:t>
            </a:r>
            <a:r>
              <a:rPr lang="en-US" sz="1600" dirty="0"/>
              <a:t> that helps students learn efficiently, stay exam-ready, and achieve better academic outcomes.</a:t>
            </a:r>
          </a:p>
          <a:p>
            <a:pPr marL="0" marR="0" lvl="0" indent="0" algn="just" rtl="0">
              <a:lnSpc>
                <a:spcPct val="100000"/>
              </a:lnSpc>
              <a:spcBef>
                <a:spcPts val="0"/>
              </a:spcBef>
              <a:spcAft>
                <a:spcPts val="0"/>
              </a:spcAft>
              <a:buNone/>
            </a:pPr>
            <a:endParaRPr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777240" y="484632"/>
            <a:ext cx="7123176"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Technology Used</a:t>
            </a:r>
            <a:endParaRPr sz="3200" b="1" i="0" u="none" strike="noStrike" cap="none" dirty="0">
              <a:solidFill>
                <a:srgbClr val="000000"/>
              </a:solidFill>
              <a:latin typeface="Arial"/>
              <a:ea typeface="Arial"/>
              <a:cs typeface="Arial"/>
              <a:sym typeface="Arial"/>
            </a:endParaRPr>
          </a:p>
        </p:txBody>
      </p:sp>
      <p:sp>
        <p:nvSpPr>
          <p:cNvPr id="144" name="Google Shape;144;p39"/>
          <p:cNvSpPr txBox="1"/>
          <p:nvPr/>
        </p:nvSpPr>
        <p:spPr>
          <a:xfrm>
            <a:off x="777240" y="1207008"/>
            <a:ext cx="10515600" cy="5586104"/>
          </a:xfrm>
          <a:prstGeom prst="rect">
            <a:avLst/>
          </a:prstGeom>
          <a:noFill/>
          <a:ln>
            <a:noFill/>
          </a:ln>
        </p:spPr>
        <p:txBody>
          <a:bodyPr spcFirstLastPara="1" wrap="square" lIns="91425" tIns="45700" rIns="91425" bIns="45700" anchor="t" anchorCtr="0">
            <a:spAutoFit/>
          </a:bodyPr>
          <a:lstStyle/>
          <a:p>
            <a:pPr algn="just"/>
            <a:r>
              <a:rPr lang="en-US" sz="1700" b="1" dirty="0" err="1"/>
              <a:t>LangFlow</a:t>
            </a:r>
            <a:r>
              <a:rPr lang="en-US" sz="1700" b="1" dirty="0"/>
              <a:t> Platform</a:t>
            </a:r>
          </a:p>
          <a:p>
            <a:pPr algn="just"/>
            <a:r>
              <a:rPr lang="en-US" sz="1700" dirty="0"/>
              <a:t>Used for designing and orchestrating the </a:t>
            </a:r>
            <a:r>
              <a:rPr lang="en-US" sz="1700" b="1" dirty="0"/>
              <a:t>multi-agent workflow</a:t>
            </a:r>
            <a:r>
              <a:rPr lang="en-US" sz="1700" dirty="0"/>
              <a:t> visually. It enables seamless coordination between the </a:t>
            </a:r>
            <a:r>
              <a:rPr lang="en-US" sz="1700" b="1" dirty="0"/>
              <a:t>Study Analyst Agent</a:t>
            </a:r>
            <a:r>
              <a:rPr lang="en-US" sz="1700" dirty="0"/>
              <a:t>, </a:t>
            </a:r>
            <a:r>
              <a:rPr lang="en-US" sz="1700" b="1" dirty="0"/>
              <a:t>Content Generator Agent</a:t>
            </a:r>
            <a:r>
              <a:rPr lang="en-US" sz="1700" dirty="0"/>
              <a:t>, </a:t>
            </a:r>
            <a:r>
              <a:rPr lang="en-US" sz="1700" b="1" dirty="0"/>
              <a:t>Learning Coach Agent</a:t>
            </a:r>
            <a:r>
              <a:rPr lang="en-US" sz="1700" dirty="0"/>
              <a:t>, and </a:t>
            </a:r>
            <a:r>
              <a:rPr lang="en-US" sz="1700" b="1" dirty="0"/>
              <a:t>AI Planner Agent</a:t>
            </a:r>
            <a:r>
              <a:rPr lang="en-US" sz="1700" dirty="0"/>
              <a:t> to automate the learning process.</a:t>
            </a:r>
          </a:p>
          <a:p>
            <a:pPr algn="just"/>
            <a:r>
              <a:rPr lang="en-US" sz="1700" b="1" dirty="0"/>
              <a:t>IBM Granite Model (Granite-4-H-Small)</a:t>
            </a:r>
          </a:p>
          <a:p>
            <a:pPr algn="just"/>
            <a:r>
              <a:rPr lang="en-US" sz="1700" dirty="0"/>
              <a:t>Provides </a:t>
            </a:r>
            <a:r>
              <a:rPr lang="en-US" sz="1700" b="1" dirty="0"/>
              <a:t>natural language understanding, reasoning, content generation, and personalization</a:t>
            </a:r>
            <a:r>
              <a:rPr lang="en-US" sz="1700" dirty="0"/>
              <a:t>. It analyzes study topics, generates notes, flashcards, MCQs, and delivers personalized study recommendations.</a:t>
            </a:r>
          </a:p>
          <a:p>
            <a:pPr algn="just"/>
            <a:r>
              <a:rPr lang="en-US" sz="1700" b="1" dirty="0"/>
              <a:t>IBM Cloud</a:t>
            </a:r>
          </a:p>
          <a:p>
            <a:pPr algn="just"/>
            <a:r>
              <a:rPr lang="en-US" sz="1700" dirty="0"/>
              <a:t>Provides the infrastructure to build, deploy, and scale the </a:t>
            </a:r>
            <a:r>
              <a:rPr lang="en-US" sz="1700" b="1" dirty="0"/>
              <a:t>Smart Study Generator</a:t>
            </a:r>
            <a:r>
              <a:rPr lang="en-US" sz="1700" dirty="0"/>
              <a:t> efficiently. IBM Cloud offers a secure, reliable, and scalable environment for hosting AI services and managing agent workflows.</a:t>
            </a:r>
          </a:p>
          <a:p>
            <a:pPr algn="just"/>
            <a:r>
              <a:rPr lang="en-US" sz="1700" b="1" dirty="0"/>
              <a:t>Retrieval-Augmented Generation (RAG)</a:t>
            </a:r>
          </a:p>
          <a:p>
            <a:pPr algn="just"/>
            <a:r>
              <a:rPr lang="en-US" sz="1700" dirty="0"/>
              <a:t>RAG retrieves relevant educational content from the knowledge base before generating responses. This improves accuracy, reduces hallucinations, and enables context-aware study material generation.</a:t>
            </a:r>
          </a:p>
          <a:p>
            <a:pPr algn="just"/>
            <a:r>
              <a:rPr lang="en-US" sz="1700" b="1" dirty="0"/>
              <a:t>IBM watsonx.ai</a:t>
            </a:r>
          </a:p>
          <a:p>
            <a:pPr algn="just"/>
            <a:r>
              <a:rPr lang="en-US" sz="1700" dirty="0"/>
              <a:t>Used for </a:t>
            </a:r>
            <a:r>
              <a:rPr lang="en-US" sz="1700" b="1" dirty="0"/>
              <a:t>model deployment, inference, </a:t>
            </a:r>
            <a:r>
              <a:rPr lang="en-US" sz="1700" b="1" dirty="0" err="1"/>
              <a:t>embeddings</a:t>
            </a:r>
            <a:r>
              <a:rPr lang="en-US" sz="1700" b="1" dirty="0"/>
              <a:t> generation, and AI governance</a:t>
            </a:r>
            <a:r>
              <a:rPr lang="en-US" sz="1700" dirty="0"/>
              <a:t>. It powers the IBM Granite Models and ensures responsible, secure, and scalable AI operations.</a:t>
            </a:r>
          </a:p>
          <a:p>
            <a:pPr algn="just"/>
            <a:r>
              <a:rPr lang="en-US" sz="1700" b="1" dirty="0"/>
              <a:t>Vector Database (FAISS/Chroma)</a:t>
            </a:r>
          </a:p>
          <a:p>
            <a:pPr algn="just"/>
            <a:r>
              <a:rPr lang="en-US" sz="1700" dirty="0"/>
              <a:t>Stores </a:t>
            </a:r>
            <a:r>
              <a:rPr lang="en-US" sz="1700" dirty="0" err="1"/>
              <a:t>embeddings</a:t>
            </a:r>
            <a:r>
              <a:rPr lang="en-US" sz="1700" dirty="0"/>
              <a:t> of educational resources and supports </a:t>
            </a:r>
            <a:r>
              <a:rPr lang="en-US" sz="1700" b="1" dirty="0"/>
              <a:t>semantic search</a:t>
            </a:r>
            <a:r>
              <a:rPr lang="en-US" sz="1700" dirty="0"/>
              <a:t> for RAG-based knowledge retrieval. It helps agents access relevant study content and generate more accurate learning recommendations.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5" name="Google Shape;155;p40"/>
          <p:cNvSpPr txBox="1"/>
          <p:nvPr/>
        </p:nvSpPr>
        <p:spPr>
          <a:xfrm>
            <a:off x="694192" y="970562"/>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smtClean="0">
                <a:solidFill>
                  <a:srgbClr val="000000"/>
                </a:solidFill>
                <a:latin typeface="Arial"/>
                <a:ea typeface="Arial"/>
                <a:cs typeface="Arial"/>
                <a:sym typeface="Arial"/>
              </a:rPr>
              <a:t>26,355 tokens </a:t>
            </a:r>
            <a:r>
              <a:rPr lang="en-US" sz="1400" b="0" i="0" u="none" strike="noStrike" cap="none" dirty="0">
                <a:solidFill>
                  <a:srgbClr val="000000"/>
                </a:solidFill>
                <a:latin typeface="Arial"/>
                <a:ea typeface="Arial"/>
                <a:cs typeface="Arial"/>
                <a:sym typeface="Arial"/>
              </a:rPr>
              <a:t>are used</a:t>
            </a:r>
            <a:endParaRPr dirty="0"/>
          </a:p>
        </p:txBody>
      </p:sp>
      <p:pic>
        <p:nvPicPr>
          <p:cNvPr id="2" name="Picture 1"/>
          <p:cNvPicPr>
            <a:picLocks noChangeAspect="1"/>
          </p:cNvPicPr>
          <p:nvPr/>
        </p:nvPicPr>
        <p:blipFill>
          <a:blip r:embed="rId3"/>
          <a:stretch>
            <a:fillRect/>
          </a:stretch>
        </p:blipFill>
        <p:spPr>
          <a:xfrm>
            <a:off x="304800" y="1349910"/>
            <a:ext cx="11468100" cy="523712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1"/>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61" name="Google Shape;161;p41"/>
          <p:cNvSpPr txBox="1"/>
          <p:nvPr/>
        </p:nvSpPr>
        <p:spPr>
          <a:xfrm>
            <a:off x="777240" y="1207008"/>
            <a:ext cx="10938510" cy="4770496"/>
          </a:xfrm>
          <a:prstGeom prst="rect">
            <a:avLst/>
          </a:prstGeom>
          <a:noFill/>
          <a:ln>
            <a:noFill/>
          </a:ln>
        </p:spPr>
        <p:txBody>
          <a:bodyPr spcFirstLastPara="1" wrap="square" lIns="91425" tIns="45700" rIns="91425" bIns="45700" anchor="t" anchorCtr="0">
            <a:spAutoFit/>
          </a:bodyPr>
          <a:lstStyle/>
          <a:p>
            <a:pPr algn="just"/>
            <a:r>
              <a:rPr lang="en-US" sz="1600" dirty="0"/>
              <a:t>The proposed </a:t>
            </a:r>
            <a:r>
              <a:rPr lang="en-US" sz="1600" b="1" dirty="0"/>
              <a:t>Smart Study Generator</a:t>
            </a:r>
            <a:r>
              <a:rPr lang="en-US" sz="1600" dirty="0"/>
              <a:t> stands out by combining </a:t>
            </a:r>
            <a:r>
              <a:rPr lang="en-US" sz="1600" b="1" dirty="0"/>
              <a:t>Agentic AI, RAG, and Personalized Learning</a:t>
            </a:r>
            <a:r>
              <a:rPr lang="en-US" sz="1600" dirty="0"/>
              <a:t> into a single intelligent educational platform.</a:t>
            </a:r>
          </a:p>
          <a:p>
            <a:pPr algn="just"/>
            <a:r>
              <a:rPr lang="en-US" sz="1600" b="1" dirty="0"/>
              <a:t>Multi-Agent Intelligence</a:t>
            </a:r>
            <a:r>
              <a:rPr lang="en-US" sz="1600" dirty="0"/>
              <a:t> – Instead of relying on a single </a:t>
            </a:r>
            <a:r>
              <a:rPr lang="en-US" sz="1600" dirty="0" err="1"/>
              <a:t>chatbot</a:t>
            </a:r>
            <a:r>
              <a:rPr lang="en-US" sz="1600" dirty="0"/>
              <a:t>, multiple specialized agents (</a:t>
            </a:r>
            <a:r>
              <a:rPr lang="en-US" sz="1600" b="1" dirty="0"/>
              <a:t>Study Analyst Agent, Content Generator Agent, Learning Coach Agent, and AI Planner Agent</a:t>
            </a:r>
            <a:r>
              <a:rPr lang="en-US" sz="1600" dirty="0"/>
              <a:t>) collaborate to deliver accurate, structured, and context-aware learning support. </a:t>
            </a:r>
          </a:p>
          <a:p>
            <a:pPr algn="just"/>
            <a:r>
              <a:rPr lang="en-US" sz="1600" b="1" dirty="0"/>
              <a:t>RAG-Based Accuracy</a:t>
            </a:r>
            <a:r>
              <a:rPr lang="en-US" sz="1600" dirty="0"/>
              <a:t> – Integrates knowledge retrieval with AI generation, enabling the system to access relevant educational content before generating responses, thereby improving accuracy and reducing misinformation. </a:t>
            </a:r>
          </a:p>
          <a:p>
            <a:pPr algn="just"/>
            <a:r>
              <a:rPr lang="en-US" sz="1600" b="1" dirty="0"/>
              <a:t>Hyper-Personalized Learning</a:t>
            </a:r>
            <a:r>
              <a:rPr lang="en-US" sz="1600" dirty="0"/>
              <a:t> – Creates customized study plans, revision schedules, and learning recommendations based on the student's subject, difficulty level, study duration, weak areas, and exam timeline. </a:t>
            </a:r>
          </a:p>
          <a:p>
            <a:pPr algn="just"/>
            <a:r>
              <a:rPr lang="en-US" sz="1600" b="1" dirty="0"/>
              <a:t>Adaptive Learning Guidance</a:t>
            </a:r>
            <a:r>
              <a:rPr lang="en-US" sz="1600" dirty="0"/>
              <a:t> – Continuously refines study recommendations and focus areas based on student inputs, helping learners stay on track and improve performance. </a:t>
            </a:r>
          </a:p>
          <a:p>
            <a:pPr algn="just"/>
            <a:r>
              <a:rPr lang="en-US" sz="1600" b="1" dirty="0"/>
              <a:t>Automated Study Material Generation</a:t>
            </a:r>
            <a:r>
              <a:rPr lang="en-US" sz="1600" dirty="0"/>
              <a:t> – Instantly generates notes, flashcards, MCQs, revision sheets, and concept summaries from a single study topic, reducing manual effort for students. </a:t>
            </a:r>
          </a:p>
          <a:p>
            <a:pPr algn="just"/>
            <a:r>
              <a:rPr lang="en-US" sz="1600" b="1" dirty="0"/>
              <a:t>Predictive Exam Preparation</a:t>
            </a:r>
            <a:r>
              <a:rPr lang="en-US" sz="1600" dirty="0"/>
              <a:t> – Identifies high-priority topics, recommends focus areas, and provides exam-readiness insights to support effective preparation. </a:t>
            </a:r>
          </a:p>
          <a:p>
            <a:pPr algn="just"/>
            <a:r>
              <a:rPr lang="en-US" sz="1600" b="1" dirty="0"/>
              <a:t>Scalable &amp; Enterprise-Ready</a:t>
            </a:r>
            <a:r>
              <a:rPr lang="en-US" sz="1600" dirty="0"/>
              <a:t> – Built on </a:t>
            </a:r>
            <a:r>
              <a:rPr lang="en-US" sz="1600" b="1" dirty="0"/>
              <a:t>IBM watsonx.ai</a:t>
            </a:r>
            <a:r>
              <a:rPr lang="en-US" sz="1600" dirty="0"/>
              <a:t>, </a:t>
            </a:r>
            <a:r>
              <a:rPr lang="en-US" sz="1600" b="1" dirty="0"/>
              <a:t>IBM Granite Models</a:t>
            </a:r>
            <a:r>
              <a:rPr lang="en-US" sz="1600" dirty="0"/>
              <a:t>, and </a:t>
            </a:r>
            <a:r>
              <a:rPr lang="en-US" sz="1600" b="1" dirty="0"/>
              <a:t>IBM Cloud</a:t>
            </a:r>
            <a:r>
              <a:rPr lang="en-US" sz="1600" dirty="0"/>
              <a:t>, ensuring reliability, security, governance, and scalability. </a:t>
            </a:r>
          </a:p>
          <a:p>
            <a:pPr algn="just"/>
            <a:r>
              <a:rPr lang="en-US" sz="1600" dirty="0"/>
              <a:t>This makes the solution a </a:t>
            </a:r>
            <a:r>
              <a:rPr lang="en-US" sz="1600" b="1" dirty="0"/>
              <a:t>smart, adaptive, and proactive digital study companion</a:t>
            </a:r>
            <a:r>
              <a:rPr lang="en-US" sz="1600" dirty="0"/>
              <a:t>, rather than just a traditional educational </a:t>
            </a:r>
            <a:r>
              <a:rPr lang="en-US" sz="1600" dirty="0" err="1"/>
              <a:t>chatbot</a:t>
            </a:r>
            <a:r>
              <a:rPr lang="en-US" sz="1600" dirty="0"/>
              <a:t> or static study tool.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7" name="Google Shape;167;p42"/>
          <p:cNvSpPr/>
          <p:nvPr/>
        </p:nvSpPr>
        <p:spPr>
          <a:xfrm>
            <a:off x="1218724" y="1153712"/>
            <a:ext cx="10344626"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endParaRPr dirty="0"/>
          </a:p>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Please test and Paste the working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a:t>
            </a:r>
            <a:r>
              <a:rPr lang="en-US" sz="1850" dirty="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hlinkClick r:id="rId3"/>
              </a:rPr>
              <a:t> https://github.com/prachi9789/Smart-Study-Generator</a:t>
            </a:r>
            <a:endParaRPr dirty="0"/>
          </a:p>
          <a:p>
            <a:pPr marL="0" marR="0" lvl="0" indent="0" algn="l" rtl="0">
              <a:lnSpc>
                <a:spcPct val="162162"/>
              </a:lnSpc>
              <a:spcBef>
                <a:spcPts val="0"/>
              </a:spcBef>
              <a:spcAft>
                <a:spcPts val="0"/>
              </a:spcAft>
              <a:buNone/>
            </a:pPr>
            <a:r>
              <a:rPr lang="en-US" sz="1850" b="1" i="0" u="none" strike="noStrike" cap="none" dirty="0">
                <a:solidFill>
                  <a:srgbClr val="2B3541"/>
                </a:solidFill>
                <a:latin typeface="Times New Roman"/>
                <a:ea typeface="Times New Roman"/>
                <a:cs typeface="Times New Roman"/>
                <a:sym typeface="Times New Roman"/>
              </a:rPr>
              <a:t>Make sure you have Uploaded following three files into your </a:t>
            </a:r>
            <a:r>
              <a:rPr lang="en-US" sz="1850" b="1" i="0" u="none" strike="noStrike" cap="none" dirty="0" err="1">
                <a:solidFill>
                  <a:srgbClr val="2B3541"/>
                </a:solidFill>
                <a:latin typeface="Times New Roman"/>
                <a:ea typeface="Times New Roman"/>
                <a:cs typeface="Times New Roman"/>
                <a:sym typeface="Times New Roman"/>
              </a:rPr>
              <a:t>github</a:t>
            </a:r>
            <a:r>
              <a:rPr lang="en-US" sz="1850" b="1" i="0" u="none" strike="noStrike" cap="none" dirty="0">
                <a:solidFill>
                  <a:srgbClr val="2B3541"/>
                </a:solidFill>
                <a:latin typeface="Times New Roman"/>
                <a:ea typeface="Times New Roman"/>
                <a:cs typeface="Times New Roman"/>
                <a:sym typeface="Times New Roman"/>
              </a:rPr>
              <a:t> repository  </a:t>
            </a:r>
            <a:r>
              <a:rPr lang="en-US" sz="1850" b="0" i="0" u="none" strike="noStrike" cap="none" dirty="0">
                <a:solidFill>
                  <a:srgbClr val="2B3541"/>
                </a:solidFill>
                <a:latin typeface="Times New Roman"/>
                <a:ea typeface="Times New Roman"/>
                <a:cs typeface="Times New Roman"/>
                <a:sym typeface="Times New Roman"/>
              </a:rPr>
              <a:t/>
            </a:r>
            <a:br>
              <a:rPr lang="en-US" sz="1850" b="0" i="0" u="none" strike="noStrike" cap="none" dirty="0">
                <a:solidFill>
                  <a:srgbClr val="2B3541"/>
                </a:solidFill>
                <a:latin typeface="Times New Roman"/>
                <a:ea typeface="Times New Roman"/>
                <a:cs typeface="Times New Roman"/>
                <a:sym typeface="Times New Roman"/>
              </a:rPr>
            </a:br>
            <a:r>
              <a:rPr lang="en-US" sz="1850" b="0" i="0" u="none" strike="noStrike" cap="none" dirty="0">
                <a:solidFill>
                  <a:srgbClr val="2B3541"/>
                </a:solidFill>
                <a:latin typeface="Times New Roman"/>
                <a:ea typeface="Times New Roman"/>
                <a:cs typeface="Times New Roman"/>
                <a:sym typeface="Times New Roman"/>
              </a:rPr>
              <a:t>1) </a:t>
            </a:r>
            <a:r>
              <a:rPr lang="en-US" sz="1850" b="0" i="0" u="none" strike="noStrike" cap="none" dirty="0" err="1">
                <a:solidFill>
                  <a:srgbClr val="2B3541"/>
                </a:solidFill>
                <a:latin typeface="Times New Roman"/>
                <a:ea typeface="Times New Roman"/>
                <a:cs typeface="Times New Roman"/>
                <a:sym typeface="Times New Roman"/>
              </a:rPr>
              <a:t>app.json</a:t>
            </a:r>
            <a:r>
              <a:rPr lang="en-US" sz="1850" b="0" i="0" u="none" strike="noStrike" cap="none" dirty="0">
                <a:solidFill>
                  <a:srgbClr val="2B3541"/>
                </a:solidFill>
                <a:latin typeface="Times New Roman"/>
                <a:ea typeface="Times New Roman"/>
                <a:cs typeface="Times New Roman"/>
                <a:sym typeface="Times New Roman"/>
              </a:rPr>
              <a:t> </a:t>
            </a:r>
            <a:r>
              <a:rPr lang="en-US" sz="1850" b="0" i="0" u="none" strike="noStrike" cap="none" dirty="0" smtClean="0">
                <a:solidFill>
                  <a:srgbClr val="2B3541"/>
                </a:solidFill>
                <a:latin typeface="Times New Roman"/>
                <a:ea typeface="Times New Roman"/>
                <a:cs typeface="Times New Roman"/>
                <a:sym typeface="Times New Roman"/>
              </a:rPr>
              <a:t>file, </a:t>
            </a:r>
            <a:r>
              <a:rPr lang="en-US" sz="1850" b="0" i="0" u="none" strike="noStrike" cap="none" dirty="0">
                <a:solidFill>
                  <a:srgbClr val="2B3541"/>
                </a:solidFill>
                <a:latin typeface="Times New Roman"/>
                <a:ea typeface="Times New Roman"/>
                <a:cs typeface="Times New Roman"/>
                <a:sym typeface="Times New Roman"/>
              </a:rPr>
              <a:t>2) yourproblemstatement.pdf file  3) your projectpresntation.pptx file 4)any other files </a:t>
            </a:r>
            <a:endParaRPr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8" name="Google Shape;16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9" name="Google Shape;169;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6" name="Google Shape;176;p43"/>
          <p:cNvSpPr/>
          <p:nvPr/>
        </p:nvSpPr>
        <p:spPr>
          <a:xfrm>
            <a:off x="1218724" y="1124746"/>
            <a:ext cx="10516076" cy="5166385"/>
          </a:xfrm>
          <a:prstGeom prst="rect">
            <a:avLst/>
          </a:prstGeom>
          <a:noFill/>
          <a:ln>
            <a:noFill/>
          </a:ln>
        </p:spPr>
        <p:txBody>
          <a:bodyPr spcFirstLastPara="1" wrap="square" lIns="0" tIns="0" rIns="0" bIns="0" anchor="t" anchorCtr="0">
            <a:noAutofit/>
          </a:bodyPr>
          <a:lstStyle/>
          <a:p>
            <a:pPr marL="285750" indent="-285750" algn="just">
              <a:buFont typeface="Wingdings" panose="05000000000000000000" pitchFamily="2" charset="2"/>
              <a:buChar char="Ø"/>
            </a:pPr>
            <a:r>
              <a:rPr lang="en-US" sz="1800" b="1" dirty="0"/>
              <a:t>Multimodal Learning Support</a:t>
            </a:r>
            <a:r>
              <a:rPr lang="en-US" sz="1800" dirty="0"/>
              <a:t> – Extend the platform to support </a:t>
            </a:r>
            <a:r>
              <a:rPr lang="en-US" sz="1800" b="1" dirty="0"/>
              <a:t>voice queries, textbook image analysis, handwritten notes, and document uploads</a:t>
            </a:r>
            <a:r>
              <a:rPr lang="en-US" sz="1800" dirty="0"/>
              <a:t> for a richer learning experience. </a:t>
            </a:r>
          </a:p>
          <a:p>
            <a:pPr marL="285750" indent="-285750" algn="just">
              <a:buFont typeface="Wingdings" panose="05000000000000000000" pitchFamily="2" charset="2"/>
              <a:buChar char="Ø"/>
            </a:pPr>
            <a:r>
              <a:rPr lang="en-US" sz="1800" b="1" dirty="0"/>
              <a:t>Real-Time Learning Analytics</a:t>
            </a:r>
            <a:r>
              <a:rPr lang="en-US" sz="1800" dirty="0"/>
              <a:t> – Introduce interactive dashboards to track student progress, learning patterns, strengths, and weak areas in real time. </a:t>
            </a:r>
          </a:p>
          <a:p>
            <a:pPr marL="285750" indent="-285750" algn="just">
              <a:buFont typeface="Wingdings" panose="05000000000000000000" pitchFamily="2" charset="2"/>
              <a:buChar char="Ø"/>
            </a:pPr>
            <a:r>
              <a:rPr lang="en-US" sz="1800" b="1" dirty="0"/>
              <a:t>Adaptive Learning Paths</a:t>
            </a:r>
            <a:r>
              <a:rPr lang="en-US" sz="1800" dirty="0"/>
              <a:t> – Dynamically adjust study plans and content difficulty based on student performance, learning pace, and assessment results. </a:t>
            </a:r>
          </a:p>
          <a:p>
            <a:pPr marL="285750" indent="-285750" algn="just">
              <a:buFont typeface="Wingdings" panose="05000000000000000000" pitchFamily="2" charset="2"/>
              <a:buChar char="Ø"/>
            </a:pPr>
            <a:r>
              <a:rPr lang="en-US" sz="1800" b="1" dirty="0"/>
              <a:t>AI Tutor &amp; Doubt Resolution</a:t>
            </a:r>
            <a:r>
              <a:rPr lang="en-US" sz="1800" dirty="0"/>
              <a:t> – Integrate an intelligent tutoring agent capable of answering subject-specific questions and providing step-by-step explanations. </a:t>
            </a:r>
          </a:p>
          <a:p>
            <a:pPr marL="285750" indent="-285750" algn="just">
              <a:buFont typeface="Wingdings" panose="05000000000000000000" pitchFamily="2" charset="2"/>
              <a:buChar char="Ø"/>
            </a:pPr>
            <a:r>
              <a:rPr lang="en-US" sz="1800" b="1" dirty="0"/>
              <a:t>Collaborative Learning Environment</a:t>
            </a:r>
            <a:r>
              <a:rPr lang="en-US" sz="1800" dirty="0"/>
              <a:t> – Enable group study sessions, peer discussions, and AI-assisted collaborative learning activities. </a:t>
            </a:r>
          </a:p>
          <a:p>
            <a:pPr marL="285750" indent="-285750" algn="just">
              <a:buFont typeface="Wingdings" panose="05000000000000000000" pitchFamily="2" charset="2"/>
              <a:buChar char="Ø"/>
            </a:pPr>
            <a:r>
              <a:rPr lang="en-US" sz="1800" b="1" dirty="0"/>
              <a:t>Integration with Educational Platforms</a:t>
            </a:r>
            <a:r>
              <a:rPr lang="en-US" sz="1800" dirty="0"/>
              <a:t> – Connect with Learning Management Systems (LMS) such as Moodle, Google Classroom, and university portals for seamless academic support. </a:t>
            </a:r>
          </a:p>
          <a:p>
            <a:pPr marL="285750" indent="-285750" algn="just">
              <a:buFont typeface="Wingdings" panose="05000000000000000000" pitchFamily="2" charset="2"/>
              <a:buChar char="Ø"/>
            </a:pPr>
            <a:r>
              <a:rPr lang="en-US" sz="1800" b="1" dirty="0"/>
              <a:t>Predictive Academic Insights</a:t>
            </a:r>
            <a:r>
              <a:rPr lang="en-US" sz="1800" dirty="0"/>
              <a:t> – Use advanced analytics to predict exam performance, identify at-risk students, and recommend targeted interventions. </a:t>
            </a:r>
          </a:p>
          <a:p>
            <a:pPr marL="285750" indent="-285750" algn="just">
              <a:buFont typeface="Wingdings" panose="05000000000000000000" pitchFamily="2" charset="2"/>
              <a:buChar char="Ø"/>
            </a:pPr>
            <a:r>
              <a:rPr lang="en-US" sz="1800" b="1" dirty="0"/>
              <a:t>Mobile &amp; Enterprise Deployment</a:t>
            </a:r>
            <a:r>
              <a:rPr lang="en-US" sz="1800" dirty="0"/>
              <a:t> – Develop mobile applications and deploy the solution at institutional scale using IBM Cloud for wider accessibility and adoption. </a:t>
            </a:r>
          </a:p>
          <a:p>
            <a:pPr algn="just"/>
            <a:r>
              <a:rPr lang="en-US" sz="1800" b="1" dirty="0"/>
              <a:t>Vision:</a:t>
            </a:r>
            <a:r>
              <a:rPr lang="en-US" sz="1800" dirty="0"/>
              <a:t> Transform the Smart Study Generator into a comprehensive AI-powered learning ecosystem that acts as a personal tutor, study planner, and academic mentor for students.</a:t>
            </a:r>
            <a:endParaRPr lang="en-US" sz="1700" dirty="0"/>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TotalTime>
  <Words>1321</Words>
  <Application>Microsoft Office PowerPoint</Application>
  <PresentationFormat>Widescreen</PresentationFormat>
  <Paragraphs>114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 </dc:title>
  <dc:creator>Manda Anirudh</dc:creator>
  <cp:lastModifiedBy>PS</cp:lastModifiedBy>
  <cp:revision>8</cp:revision>
  <dcterms:created xsi:type="dcterms:W3CDTF">2025-07-08T05:06:56Z</dcterms:created>
  <dcterms:modified xsi:type="dcterms:W3CDTF">2026-06-15T10:10:25Z</dcterms:modified>
</cp:coreProperties>
</file>